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9240" cy="206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6840" y="160416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6323EEF-C506-4D1B-AEB0-B09CBB46FA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0597B37-1633-4C3E-8D2C-00CC8D8177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A938C0F-5699-4BF5-8CA4-B638CEE29A8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9240" cy="206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6840" y="160416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2069"/>
              </a:spcBef>
              <a:buNone/>
            </a:pPr>
            <a:endParaRPr b="0" lang="bg-BG" sz="4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AD34E34-4659-4EC0-B7D1-4209E9F354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E19EF63-4BF3-4369-8081-90B9B95F4B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9240" cy="206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6840" y="160416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2069"/>
              </a:spcBef>
              <a:buNone/>
            </a:pPr>
            <a:endParaRPr b="0" lang="bg-BG" sz="4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3880" y="160416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2069"/>
              </a:spcBef>
              <a:buNone/>
            </a:pPr>
            <a:endParaRPr b="0" lang="bg-BG" sz="4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4FB110E-978B-462C-AD1F-0E31B9B21F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AF49BFA-93E3-4106-997E-74E71A7AD4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9240" cy="206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E4FBE8E-44E8-43CF-A713-9701B6B4F0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2B06AE9-099D-462D-9906-0341A0EF79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C840213-8EFE-404F-9F51-CAC73BB9FC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A9836E1-300E-4456-9A0D-E018441E7C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Fres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9240" cy="206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6840" y="160416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2069"/>
              </a:spcBef>
              <a:buNone/>
            </a:pPr>
            <a:endParaRPr b="0" lang="bg-BG" sz="4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Fres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9240" cy="206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456840" y="160416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FDFB7C-59D0-4114-861E-879834192FA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Щракнете, за да редактирате формата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Второ ниво на плана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Трето ниво на плана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Четвърто ниво на плана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Пето ниво на плана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Шесто ниво на плана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Седмо ниво на плана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681858-95E7-45F2-AD19-B268B9212BA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ADC2FE-BDF9-4CA1-ADF6-5D7BC89DEC4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4315DD-4774-45C1-9FD5-84CAA1FB595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EB2A51D-B7C3-4891-ADCB-9AC126A5F49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9E3964-4020-43C8-A70E-88F0D3BDE43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26ED49-4514-4DC5-BCEB-10771D774F9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2F5227-2C24-4286-A6F3-72EEBC4C46E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171A42-9C47-46E1-BA8B-C640BA60D92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DDC53F-B61B-4518-A2F4-B47B48217F9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Щракнете, за да редактирате формата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Второ ниво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Трето ниво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Четвърто ниво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Пето ниво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Шесто ниво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Седмо ниво на плана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&lt;дата/час&gt;</a:t>
            </a:r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5652BA-25EA-4B13-A835-28E018E3B8E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" descr=""/>
          <p:cNvPicPr/>
          <p:nvPr/>
        </p:nvPicPr>
        <p:blipFill>
          <a:blip r:embed="rId2"/>
          <a:stretch/>
        </p:blipFill>
        <p:spPr>
          <a:xfrm>
            <a:off x="0" y="0"/>
            <a:ext cx="9146880" cy="6858720"/>
          </a:xfrm>
          <a:prstGeom prst="rect">
            <a:avLst/>
          </a:prstGeom>
          <a:ln w="0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6840" y="27324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bg-BG" sz="7269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726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6840" y="1604160"/>
            <a:ext cx="8229240" cy="3977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206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468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плана</a:t>
            </a:r>
            <a:endParaRPr b="0" lang="bg-BG" sz="468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65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4100" spc="-1" strike="noStrike">
                <a:solidFill>
                  <a:srgbClr val="000000"/>
                </a:solidFill>
                <a:latin typeface="Arial"/>
              </a:rPr>
              <a:t>Второ ниво на плана</a:t>
            </a:r>
            <a:endParaRPr b="0" lang="bg-BG" sz="4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12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3509" spc="-1" strike="noStrike">
                <a:solidFill>
                  <a:srgbClr val="000000"/>
                </a:solidFill>
                <a:latin typeface="Arial"/>
              </a:rPr>
              <a:t>Трето ниво на плана</a:t>
            </a:r>
            <a:endParaRPr b="0" lang="bg-BG" sz="3509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8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2930" spc="-1" strike="noStrike">
                <a:solidFill>
                  <a:srgbClr val="000000"/>
                </a:solidFill>
                <a:latin typeface="Arial"/>
              </a:rPr>
              <a:t>Четвърто ниво на плана</a:t>
            </a:r>
            <a:endParaRPr b="0" lang="bg-BG" sz="293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930" spc="-1" strike="noStrike">
                <a:solidFill>
                  <a:srgbClr val="000000"/>
                </a:solidFill>
                <a:latin typeface="Arial"/>
              </a:rPr>
              <a:t>Пето ниво на плана</a:t>
            </a:r>
            <a:endParaRPr b="0" lang="bg-BG" sz="293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930" spc="-1" strike="noStrike">
                <a:solidFill>
                  <a:srgbClr val="000000"/>
                </a:solidFill>
                <a:latin typeface="Arial"/>
              </a:rPr>
              <a:t>Шесто ниво на плана</a:t>
            </a:r>
            <a:endParaRPr b="0" lang="bg-BG" sz="293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930" spc="-1" strike="noStrike">
                <a:solidFill>
                  <a:srgbClr val="000000"/>
                </a:solidFill>
                <a:latin typeface="Arial"/>
              </a:rPr>
              <a:t>Седмо ниво на плана</a:t>
            </a:r>
            <a:endParaRPr b="0" lang="bg-BG" sz="29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  <p:sldLayoutId id="2147483672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Kubernetes Security Monitoring System (KSMS)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Real-time Monitoring and Threat Mitigation for Containerized Environments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Galya Dodova (FN: 45616)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February 2024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Introduction &amp; Motivation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The Challenge: Kubernetes clusters are dynamic and complex, making security monitoring difficult.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The Need: Organizations need real-time visibility into cluster events to prevent unauthorized access and misconfigurations.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The Solution: KSMS provides a centralized platform to monitor multiple clusters, enforce security policies, and automate responses.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Project Goals &amp; Key Features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Real-time Monitoring: Live updates on security incidents using SSE (Server-Sent Events).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Cluster Management: Securely connect and monitor multiple K8s clusters.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Policy Enforcement: Define and apply granular security policies across namespaces.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Incident Response: Automated actions (e.g., pod isolation) triggered by violations.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RBAC: Secure access for Administrators, Security Analysts, and Students.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System Architecture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Backend: Built with Go (Golang) for high performance and concurrency.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Frontend: Responsive dashboard using Go templates, Vue.js, and Tailwind CSS.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Storage: PostgreSQL for persistent data (users, policies, alerts).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K8s Integration: Uses client-go to communicate with Kubernetes API servers.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Metrics: Integrated with Prometheus for health and trend analysis.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Core Implementation - Backend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Authentication: JWT-based secure login with role-based permissions.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API Design: RESTful API endpoints for cluster and policy management.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Concurrency: Leverages Go routines for efficient cluster polling and event handling.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Middleware: Custom middleware for authentication and role verification.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Policy Engine &amp; Alerting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Policy Definition: Users can define rules (e.g., 'No pods in default namespace').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Real-time Alerts: System monitors cluster state and triggers alerts when policies are violated.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Incident Reports: Detailed logs and reports for post-incident investigation.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Data Persistence: All security events are logged to the database for audit trails.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User Interface &amp; Experience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Dashboard: High-level overview of cluster health and active alerts.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Cluster View: Detailed resource listing (Pods, Namespaces) for connected clusters.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Policy Management: Intuitive interface for creating and managing security rules.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Real-time Feed: Live incident stream that updates without page refreshes.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Testing &amp; Demonstration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Automated Demo: Dedicated Go script (demo_script.go) for user interaction and API calls.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Manual Testing: Web-based walkthrough (Login -&gt; Add Cluster -&gt; Trigger Alert).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Metrics Verification: Prometheus endpoint (/metrics) for system performance monitoring.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Challenges &amp; Lessons Learned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K8s Connectivity: Handling various authentication methods for remote clusters.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Concurrency Management: Ensuring thread-safe updates to real-time alert streams.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Frontend Integration: Combining Go's server-side rendering with Vue.js reactivity.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Future Enhancements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Advanced Response: Integration with K8s Network Policies for automated firewalling.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AI/ML Analysis: Implementing anomaly detection for unusual behavior.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Scaling: Support for larger clusters and high-availability deployments.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Conclusion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KSMS is a robust foundation for Kubernetes security.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Successfully combines modern backend (Go) and frontend (Vue.js) technologies.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Ready for extension into production environments.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Q&amp;A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Thank you for your attention!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Questions?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bg-BG</dc:language>
  <cp:lastModifiedBy/>
  <dcterms:modified xsi:type="dcterms:W3CDTF">2026-02-08T10:01:38Z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