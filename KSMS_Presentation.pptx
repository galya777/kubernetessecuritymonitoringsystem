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</p:sld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76BE59-AB3C-41A8-990B-B1B3D97760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F67E032-531A-40BD-BAFE-D22AFC2C10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5BA0D23-56DF-485B-8865-6C6542ED22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F7D456C-5C9C-4499-93F3-D7B0DC7458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227BA8D-0762-4842-A684-1DCC20B479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BC5935B-603F-47D8-874F-C8C0A6BEE6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34EA13D-4F8F-4DF8-8D88-F27CA59CF3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9B1FB54-24AC-41DA-B2B1-EC08A7D899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EB5A1F5-C48D-4EA4-A6C1-15E17461EF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49B0840-F865-43DF-A3B0-70149152C1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B4848A6-17F8-4AF2-9516-135BEAD256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bg-BG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Fresh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По подразбиран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7AB770C-AC5F-40F7-8C46-F10E1F94E16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44DE40E-03F2-44DE-8C33-5B2D4D2CA9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C997C1F-33EC-4C89-8E64-29795A8BCF2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6840" y="160416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EA6BD2F-C362-4ED0-820C-7F995B57263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4013BB6-CE4D-4AB6-9967-73C59D248C0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6840" y="1604160"/>
            <a:ext cx="401544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3880" y="1604160"/>
            <a:ext cx="401544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333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F61B140-A76C-470F-8E76-B7BB93E123A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7FC1B09-4887-443F-920F-4064B1B646E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6EC174F-689B-42C4-BA2C-1BD64EA409E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493098F-E3AF-49CE-B38F-54CB5880C2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F5AABA1-3F01-4A88-A8A2-72967E0731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&lt;долен колонтитул&gt;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3FF76DB-60FA-4DF0-812D-383050B7A1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&lt;число&gt;</a:t>
            </a:fld>
            <a:endParaRPr b="0" lang="bg-BG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bg-BG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bg-BG" sz="1400" spc="-1" strike="noStrike">
                <a:solidFill>
                  <a:srgbClr val="000000"/>
                </a:solidFill>
                <a:latin typeface="Times New Roman"/>
              </a:rPr>
              <a:t>&lt;дата/час&gt;</a:t>
            </a:r>
            <a:endParaRPr b="0" lang="bg-BG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2"/>
          <a:stretch/>
        </p:blipFill>
        <p:spPr>
          <a:xfrm>
            <a:off x="0" y="0"/>
            <a:ext cx="9146520" cy="685836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6840" y="160416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" descr=""/>
          <p:cNvPicPr/>
          <p:nvPr/>
        </p:nvPicPr>
        <p:blipFill>
          <a:blip r:embed="rId2"/>
          <a:stretch/>
        </p:blipFill>
        <p:spPr>
          <a:xfrm>
            <a:off x="0" y="0"/>
            <a:ext cx="9146520" cy="6858360"/>
          </a:xfrm>
          <a:prstGeom prst="rect">
            <a:avLst/>
          </a:prstGeom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6840" y="-186120"/>
            <a:ext cx="8228880" cy="2063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bg-BG" sz="18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заглавието</a:t>
            </a:r>
            <a:endParaRPr b="0" lang="bg-BG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3200" spc="-1" strike="noStrike">
                <a:solidFill>
                  <a:srgbClr val="000000"/>
                </a:solidFill>
                <a:latin typeface="Arial"/>
              </a:rPr>
              <a:t>Щракнете, за да редактирате формата на плана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2800" spc="-1" strike="noStrike">
                <a:solidFill>
                  <a:srgbClr val="000000"/>
                </a:solidFill>
                <a:latin typeface="Arial"/>
              </a:rPr>
              <a:t>Второ ниво на плана</a:t>
            </a:r>
            <a:endParaRPr b="0" lang="bg-BG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400" spc="-1" strike="noStrike">
                <a:solidFill>
                  <a:srgbClr val="000000"/>
                </a:solidFill>
                <a:latin typeface="Arial"/>
              </a:rPr>
              <a:t>Трето ниво на плана</a:t>
            </a:r>
            <a:endParaRPr b="0" lang="bg-BG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bg-BG" sz="2000" spc="-1" strike="noStrike">
                <a:solidFill>
                  <a:srgbClr val="000000"/>
                </a:solidFill>
                <a:latin typeface="Arial"/>
              </a:rPr>
              <a:t>Четвърто ниво на плана</a:t>
            </a:r>
            <a:endParaRPr b="0" lang="bg-BG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000" spc="-1" strike="noStrike">
                <a:solidFill>
                  <a:srgbClr val="000000"/>
                </a:solidFill>
                <a:latin typeface="Arial"/>
              </a:rPr>
              <a:t>Пето ниво на плана</a:t>
            </a:r>
            <a:endParaRPr b="0" lang="bg-BG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000" spc="-1" strike="noStrike">
                <a:solidFill>
                  <a:srgbClr val="000000"/>
                </a:solidFill>
                <a:latin typeface="Arial"/>
              </a:rPr>
              <a:t>Шесто ниво на плана</a:t>
            </a:r>
            <a:endParaRPr b="0" lang="bg-BG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bg-BG" sz="2000" spc="-1" strike="noStrike">
                <a:solidFill>
                  <a:srgbClr val="000000"/>
                </a:solidFill>
                <a:latin typeface="Arial"/>
              </a:rPr>
              <a:t>Седмо ниво на плана</a:t>
            </a:r>
            <a:endParaRPr b="0" lang="bg-BG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Kubernetes Security Monitoring System (KSMS)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080" cy="175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Real-time Monitoring and Threat Mitigation for Containerized Environments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Galya Dodova (FN: 45616)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Introduction &amp; Motivation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Challenge: Kubernetes clusters are dynamic and complex, making security monitoring difficult.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Need: Organizations need real-time visibility into cluster events to prevent unauthorized access and misconfigurations.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The Solution: KSMS provides a centralized platform to monitor multiple clusters, enforce security policies, and automate responses.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Project Goals &amp; Key Features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Monitoring: Live updates on security incidents using SSE (Server-Sent Events).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Cluster Management: Securely connect and monitor multiple K8s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Enforcement: Define and apply granular security policies across namespaces.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Incident Response: Automated actions (e.g., pod isolation) triggered by violations.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RBAC: Secure access for Administrators, Security Analysts, and Students.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System Architecture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Backend: Built with Go (Golang) for high performance and concurrency.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Frontend: Responsive dashboard using Go templates, Vue.js, and Tailwind CSS.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Storage: PostgreSQL for persistent data (users, policies, alerts).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K8s Integration: Uses client-go to communicate with Kubernetes API servers.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Metrics: Integrated with Prometheus for health and trend analysis.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Core Implementation - Backend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Authentication: JWT-based secure login with role-based permissions.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API Design: RESTful API endpoints for cluster and policy management.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Concurrency: Leverages Go routines for efficient cluster polling and event handling.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Middleware: Custom middleware for authentication and role verification.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Policy Engine &amp; Alerting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Definition: Users can define rules (e.g., 'No pods in default namespace').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Alerts: System monitors cluster state and triggers alerts when policies are violated.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Incident Reports: Detailed logs and reports for post-incident investigation.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Data Persistence: All security events are logged to the database for audit trails.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User Interface &amp; Experience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Dashboard: High-level overview of cluster health and active alerts.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Cluster View: Detailed resource listing (Pods, Namespaces) for connected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Policy Management: Intuitive interface for creating and managing security rules.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Real-time Feed: Live incident stream that updates without page refreshes.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Testing &amp; Demonstration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Automated Demo: Dedicated Go script (demo_script.go) for user interaction and API calls.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Manual Testing: Web-based walkthrough (Login -&gt; Add Cluster -&gt; Trigger Alert).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Metrics Verification: Prometheus endpoint (/metrics) for system performance monitoring.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Challenges &amp; Lessons Learned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K8s Connectivity: Handling various authentication methods for remote clusters.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Concurrency Management: Ensuring thread-safe updates to real-time alert streams.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Frontend Integration: Combining Go's server-side rendering with Vue.js reactivity.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Future Enhancements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Advanced Response: Integration with K8s Network Policies for automated firewalling.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AI/ML Analysis: Implementing anomaly detection for unusual behavior.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Scaling: Support for larger clusters and high-availability deployments.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Conclusion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KSMS is a robust foundation for Kubernetes security.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Successfully combines modern backend (Go) and frontend (Vue.js) technologies.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/>
                </a:solidFill>
                <a:latin typeface="Calibri"/>
              </a:rPr>
              <a:t>Ready for extension into production environments.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4400" spc="-1" strike="noStrike">
                <a:solidFill>
                  <a:schemeClr val="dk1"/>
                </a:solidFill>
                <a:latin typeface="Calibri"/>
              </a:rPr>
              <a:t>Q&amp;A</a:t>
            </a:r>
            <a:endParaRPr b="0" lang="bg-BG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080" cy="175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Thank you for your attention!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bg-BG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Questions?</a:t>
            </a:r>
            <a:endParaRPr b="0" lang="bg-BG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bg-BG</dc:language>
  <cp:lastModifiedBy/>
  <dcterms:modified xsi:type="dcterms:W3CDTF">2026-02-09T17:08:07Z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